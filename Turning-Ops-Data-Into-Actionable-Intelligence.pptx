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embeddedFontLst>
    <p:embeddedFont>
      <p:font typeface="Inter Bold"/>
      <p:regular r:id="rId201314"/>
    </p:embeddedFont>
    <p:embeddedFont>
      <p:font typeface="Inter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685354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Ops Agent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1340941"/>
            <a:ext cx="4722763" cy="18341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Turning Ops Data Into Actionable Intelligence</a:t>
            </a:r>
            <a:endParaRPr lang="en-US" sz="3850" dirty="0"/>
          </a:p>
        </p:txBody>
      </p:sp>
      <p:sp>
        <p:nvSpPr>
          <p:cNvPr id="5" name="Text 2"/>
          <p:cNvSpPr/>
          <p:nvPr/>
        </p:nvSpPr>
        <p:spPr>
          <a:xfrm>
            <a:off x="496119" y="3387700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Analytics Chatbot · Role-Aware · Self-Learning · Visual · Air-Gapped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96119" y="4000798"/>
            <a:ext cx="4722763" cy="457349"/>
          </a:xfrm>
          <a:prstGeom prst="roundRect">
            <a:avLst>
              <a:gd name="adj" fmla="val 10415"/>
            </a:avLst>
          </a:prstGeom>
          <a:noFill/>
          <a:ln w="4763">
            <a:solidFill>
              <a:srgbClr val="4950B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936" y="4048051"/>
            <a:ext cx="4543127" cy="3628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OPS DASHBOARD ENGINEERING TEAM · JUNE 2026 · INTERNAL ARCHITECTURE PROPOSAL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7336" y="402506"/>
            <a:ext cx="7489254" cy="678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Having Data Is Not Enough. Making Sense of It Is the Advantage.</a:t>
            </a:r>
            <a:endParaRPr lang="en-US" sz="21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336" y="1620217"/>
            <a:ext cx="4775299" cy="270599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72163" y="1288554"/>
            <a:ext cx="1865561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We Have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872163" y="1541115"/>
            <a:ext cx="2449116" cy="1006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rows and columns — no plain-English answers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data dump for every role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memory across sessions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self-service discovery for new team members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872163" y="2630984"/>
            <a:ext cx="2019226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We Actually Need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872163" y="2883545"/>
            <a:ext cx="2449116" cy="8535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in plain English, role-filtered per team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what was already answered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Charts, dashboards, and visual context</a:t>
            </a:r>
            <a:endParaRPr lang="en-US" sz="850" dirty="0"/>
          </a:p>
          <a:p>
            <a:pPr algn="l" marL="342900" indent="-342900">
              <a:lnSpc>
                <a:spcPct val="118000"/>
              </a:lnSpc>
              <a:buSzPct val="100000"/>
              <a:buChar char="•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Follow-up questions that just work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5872163" y="3830538"/>
            <a:ext cx="2449116" cy="816918"/>
          </a:xfrm>
          <a:prstGeom prst="roundRect">
            <a:avLst>
              <a:gd name="adj" fmla="val 5580"/>
            </a:avLst>
          </a:prstGeom>
          <a:solidFill>
            <a:srgbClr val="C7C9E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658" y="3985468"/>
            <a:ext cx="135657" cy="1084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24811" y="3932411"/>
            <a:ext cx="1987972" cy="6131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today's world, </a:t>
            </a:r>
            <a:pPr algn="l"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having data is not a competitive advantage.</a:t>
            </a:r>
            <a:pPr algn="l"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Making sense of data is. Ops Agent closes that gap.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22746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One Intelligent Layer. Three Working Parts. Zero Rework.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680790"/>
            <a:ext cx="2458343" cy="2489448"/>
          </a:xfrm>
          <a:prstGeom prst="roundRect">
            <a:avLst>
              <a:gd name="adj" fmla="val 2422"/>
            </a:avLst>
          </a:prstGeom>
          <a:solidFill>
            <a:srgbClr val="C7C9E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877" y="1874341"/>
            <a:ext cx="221456" cy="177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1092" y="185797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Intelligence Layer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01092" y="2221185"/>
            <a:ext cx="1811610" cy="1864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Role-Aware Queries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Same question, different answer per role.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Self-Learning Cache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First answer is the hard part. After that: instant.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305101" y="1680790"/>
            <a:ext cx="2543249" cy="2262634"/>
          </a:xfrm>
          <a:prstGeom prst="roundRect">
            <a:avLst>
              <a:gd name="adj" fmla="val 2632"/>
            </a:avLst>
          </a:prstGeom>
          <a:solidFill>
            <a:srgbClr val="B6D6F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6859" y="1874341"/>
            <a:ext cx="221456" cy="1771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810074" y="185797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Experience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3810074" y="2221185"/>
            <a:ext cx="1896517" cy="16372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Dynamic Visuals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Ask for a chart in plain English.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Self-Service Discovery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Find what data exists without tickets or interruptions.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198989" y="1680790"/>
            <a:ext cx="2458343" cy="2035820"/>
          </a:xfrm>
          <a:prstGeom prst="roundRect">
            <a:avLst>
              <a:gd name="adj" fmla="val 2925"/>
            </a:avLst>
          </a:prstGeom>
          <a:solidFill>
            <a:srgbClr val="B6FCB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0748" y="1874341"/>
            <a:ext cx="221456" cy="1771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703963" y="185797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Integration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6703963" y="2221185"/>
            <a:ext cx="1811610" cy="1410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 + Site Lookup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Serial number in, joined context out.</a:t>
            </a:r>
            <a:endParaRPr lang="en-US" sz="1100" dirty="0"/>
          </a:p>
          <a:p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Memory</a:t>
            </a:r>
            <a:pPr algn="l" marL="342900" indent="-342900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Save once, reuse everywhere.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496119" y="4489177"/>
            <a:ext cx="8608963" cy="231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Sits on top of existing 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ops_db</a:t>
            </a:r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12+ services · No rework · Air-gapped via Circuit Proxy · No external dependencies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9266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System Pays the Full Cost Once. Every Interaction After Is Instant.</a:t>
            </a:r>
            <a:endParaRPr lang="en-US" sz="2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119" y="1608758"/>
            <a:ext cx="2717229" cy="5670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7877" y="231755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1 — First Query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37877" y="2624063"/>
            <a:ext cx="243371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cache match. NL2SQL runs. MySQL queried. Result stored as v1. User refines → stored.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348" y="1608758"/>
            <a:ext cx="2717229" cy="56703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355107" y="2317552"/>
            <a:ext cx="199429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2 — Similar Query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355107" y="2624063"/>
            <a:ext cx="243371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match (score ≥ 0.88). Served instantly. Zero DB call. Zero LLM call.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578" y="1608758"/>
            <a:ext cx="2717229" cy="56703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72336" y="2317552"/>
            <a:ext cx="197666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User 3: — Best Version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072336" y="2624063"/>
            <a:ext cx="243371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Gets best promoted version automatically. Zero DB call. Zero LLM call.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96119" y="3765203"/>
            <a:ext cx="3902943" cy="779562"/>
          </a:xfrm>
          <a:prstGeom prst="roundRect">
            <a:avLst>
              <a:gd name="adj" fmla="val 7638"/>
            </a:avLst>
          </a:prstGeom>
          <a:solidFill>
            <a:srgbClr val="B6FCB8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877" y="3980259"/>
            <a:ext cx="177180" cy="14175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56816" y="3928170"/>
            <a:ext cx="330048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 ≥ 0.88 — HARD HIT</a:t>
            </a:r>
            <a:endParaRPr lang="en-US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 instantly · Zero MySQL · Zero LLM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4749701" y="3765203"/>
            <a:ext cx="3902943" cy="779562"/>
          </a:xfrm>
          <a:prstGeom prst="roundRect">
            <a:avLst>
              <a:gd name="adj" fmla="val 7638"/>
            </a:avLst>
          </a:prstGeom>
          <a:solidFill>
            <a:srgbClr val="FCF2B5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1460" y="3980259"/>
            <a:ext cx="177180" cy="14175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210398" y="3928170"/>
            <a:ext cx="330048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 &lt; 0.70 — MISS</a:t>
            </a:r>
            <a:endParaRPr lang="en-US" sz="11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NL2SQL runs · Result stored · Never repeated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50205"/>
            <a:ext cx="4722763" cy="6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Our Teams Will Actually Use This For</a:t>
            </a:r>
            <a:endParaRPr lang="en-US" sz="21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272183"/>
            <a:ext cx="4722763" cy="79042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6435" y="1563588"/>
            <a:ext cx="166092" cy="2076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039862" y="1397198"/>
            <a:ext cx="1384399" cy="17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Discovery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1039862" y="1622078"/>
            <a:ext cx="4054004" cy="315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"Are we ingesting TAC case data?" → Returns all ingestion sources, tables, and frequency. New engineer gets full data landscape in seconds.</a:t>
            </a:r>
            <a:endParaRPr lang="en-US" sz="8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149078"/>
            <a:ext cx="4722763" cy="79042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6435" y="2440484"/>
            <a:ext cx="166092" cy="2076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1039862" y="2274094"/>
            <a:ext cx="2191717" cy="17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Tool Discovery + Feedback Loop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1039862" y="2498973"/>
            <a:ext cx="4054004" cy="315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"Can I do automated firmware rollback?" → Not found → logged to feedback queue. Dev team gets ranked backlog of most-requested missing tools.</a:t>
            </a:r>
            <a:endParaRPr lang="en-US" sz="8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19" y="3025973"/>
            <a:ext cx="4722763" cy="79042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6435" y="3317379"/>
            <a:ext cx="166092" cy="2076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8"/>
          <p:cNvSpPr/>
          <p:nvPr/>
        </p:nvSpPr>
        <p:spPr>
          <a:xfrm>
            <a:off x="1039862" y="3150989"/>
            <a:ext cx="1384399" cy="17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Device Deep-Dive</a:t>
            </a:r>
            <a:endParaRPr lang="en-US" sz="1050" dirty="0"/>
          </a:p>
        </p:txBody>
      </p:sp>
      <p:sp>
        <p:nvSpPr>
          <p:cNvPr id="15" name="Text 9"/>
          <p:cNvSpPr/>
          <p:nvPr/>
        </p:nvSpPr>
        <p:spPr>
          <a:xfrm>
            <a:off x="1039862" y="3375868"/>
            <a:ext cx="4054004" cy="315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"Everything about device SN-ABC12345" → Correlates EOL + firmware + CVE + TAC cases + oblation across 4 tables. One query.</a:t>
            </a:r>
            <a:endParaRPr lang="en-US" sz="8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6119" y="3902869"/>
            <a:ext cx="4722763" cy="79042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46435" y="4194274"/>
            <a:ext cx="166092" cy="2076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39862" y="4027884"/>
            <a:ext cx="1536353" cy="173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Dashboard on Demand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039862" y="4252764"/>
            <a:ext cx="4054004" cy="315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"TAC cases dashboard, last 7 days" → Checks saved dashboards, proposes layout if new, auto-redirects to live dashboard page.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5875" y="437183"/>
            <a:ext cx="6025828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We Are Building — And How We Get There</a:t>
            </a:r>
            <a:endParaRPr lang="en-US" sz="18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875" y="902791"/>
            <a:ext cx="3169965" cy="31699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92923" y="2129730"/>
            <a:ext cx="2369493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Ops Agent — 5 Stores · 14 Layers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692923" y="2342555"/>
            <a:ext cx="3169965" cy="509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intelligent paths: </a:t>
            </a:r>
            <a:pPr algn="l" indent="0" marL="0">
              <a:lnSpc>
                <a:spcPct val="111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(hybrid search → NL2SQL → versioned cache), </a:t>
            </a:r>
            <a:pPr algn="l" indent="0" marL="0">
              <a:lnSpc>
                <a:spcPct val="111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(vector store → tool registry → feedback queue), and </a:t>
            </a:r>
            <a:pPr algn="l" indent="0" marL="0">
              <a:lnSpc>
                <a:spcPct val="111000"/>
              </a:lnSpc>
              <a:buNone/>
            </a:pPr>
            <a:r>
              <a:rPr lang="en-US" sz="7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(template selector → LTM → dashboard page). All on existing infrastructure.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1285875" y="4216673"/>
            <a:ext cx="6572250" cy="417612"/>
          </a:xfrm>
          <a:prstGeom prst="roundRect">
            <a:avLst>
              <a:gd name="adj" fmla="val 9579"/>
            </a:avLst>
          </a:prstGeom>
          <a:solidFill>
            <a:srgbClr val="B6FCB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125" y="4338117"/>
            <a:ext cx="119062" cy="952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95438" y="4298082"/>
            <a:ext cx="6167438" cy="2547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today: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Green light for Phase 1 — NL2SQL pipeline + Schema Vector Store. No new infrastructure required. Builds on existing MySQL 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000000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ops_data</a:t>
            </a:r>
            <a:pPr algn="l" indent="0" marL="0">
              <a:lnSpc>
                <a:spcPct val="11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2026-06-15T17:42:58Z</dcterms:created>
  <dcterms:modified xsi:type="dcterms:W3CDTF">2026-06-15T17:42:58Z</dcterms:modified>
</cp:coreProperties>
</file>